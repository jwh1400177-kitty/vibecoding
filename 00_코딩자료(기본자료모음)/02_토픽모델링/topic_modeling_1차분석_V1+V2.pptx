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토픽 수</c:v>
                </c:pt>
              </c:strCache>
            </c:strRef>
          </c:tx>
          <c:spPr>
            <a:solidFill>
              <a:srgbClr val="1A3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A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C5F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FDBF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BEAF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0E7F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0F9FF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표현</c:v>
                  </c:pt>
                  <c:pt idx="1">
                    <c:v>역량</c:v>
                  </c:pt>
                  <c:pt idx="2">
                    <c:v>관계</c:v>
                  </c:pt>
                  <c:pt idx="3">
                    <c:v>문화</c:v>
                  </c:pt>
                  <c:pt idx="4">
                    <c:v>포지셔닝</c:v>
                  </c:pt>
                  <c:pt idx="5">
                    <c:v>가치</c:v>
                  </c:pt>
                  <c:pt idx="6">
                    <c:v>개성</c:v>
                  </c:pt>
                  <c:pt idx="7">
                    <c:v>브랜드 코어</c:v>
                  </c:pt>
                  <c:pt idx="8">
                    <c:v>비전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</c:v>
                </c:pt>
                <c:pt idx="1">
                  <c:v>42</c:v>
                </c:pt>
                <c:pt idx="2">
                  <c:v>27</c:v>
                </c:pt>
                <c:pt idx="3">
                  <c:v>19</c:v>
                </c:pt>
                <c:pt idx="4">
                  <c:v>17</c:v>
                </c:pt>
                <c:pt idx="5">
                  <c:v>12</c:v>
                </c:pt>
                <c:pt idx="6">
                  <c:v>9</c:v>
                </c:pt>
                <c:pt idx="7">
                  <c:v>6</c:v>
                </c:pt>
                <c:pt idx="8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T0:표현(마텔/파리)</c:v>
                </c:pt>
              </c:strCache>
            </c:strRef>
          </c:tx>
          <c:spPr>
            <a:solidFill>
              <a:srgbClr val="1A3A6C"/>
            </a:solidFill>
            <a:ln w="31750" cap="flat">
              <a:solidFill>
                <a:srgbClr val="1A3A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3A6C"/>
              </a:solidFill>
              <a:ln w="9525" cap="flat">
                <a:solidFill>
                  <a:srgbClr val="1A3A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</c:v>
                  </c:pt>
                  <c:pt idx="1">
                    <c:v>2026-02</c:v>
                  </c:pt>
                  <c:pt idx="2">
                    <c:v>2026-03</c:v>
                  </c:pt>
                  <c:pt idx="3">
                    <c:v>2026-04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</c:v>
                </c:pt>
                <c:pt idx="1">
                  <c:v>3.5</c:v>
                </c:pt>
                <c:pt idx="2">
                  <c:v>5.8</c:v>
                </c:pt>
                <c:pt idx="3">
                  <c:v>4.9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T1:문화(사람/시대)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</c:v>
                  </c:pt>
                  <c:pt idx="1">
                    <c:v>2026-02</c:v>
                  </c:pt>
                  <c:pt idx="2">
                    <c:v>2026-03</c:v>
                  </c:pt>
                  <c:pt idx="3">
                    <c:v>2026-04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3.8</c:v>
                </c:pt>
                <c:pt idx="2">
                  <c:v>2.3</c:v>
                </c:pt>
                <c:pt idx="3">
                  <c:v>3.3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T4:역량(명동/수출)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</c:v>
                  </c:pt>
                  <c:pt idx="1">
                    <c:v>2026-02</c:v>
                  </c:pt>
                  <c:pt idx="2">
                    <c:v>2026-03</c:v>
                  </c:pt>
                  <c:pt idx="3">
                    <c:v>2026-04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1.2</c:v>
                </c:pt>
                <c:pt idx="2">
                  <c:v>1.5</c:v>
                </c:pt>
                <c:pt idx="3">
                  <c:v>3.9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T6:역량(컬리/이익)</c:v>
                </c:pt>
              </c:strCache>
            </c:strRef>
          </c:tx>
          <c:spPr>
            <a:solidFill>
              <a:srgbClr val="60A5FA"/>
            </a:solidFill>
            <a:ln w="31750" cap="flat">
              <a:solidFill>
                <a:srgbClr val="60A5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0A5FA"/>
              </a:solidFill>
              <a:ln w="9525" cap="flat">
                <a:solidFill>
                  <a:srgbClr val="60A5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</c:v>
                  </c:pt>
                  <c:pt idx="1">
                    <c:v>2026-02</c:v>
                  </c:pt>
                  <c:pt idx="2">
                    <c:v>2026-03</c:v>
                  </c:pt>
                  <c:pt idx="3">
                    <c:v>2026-04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</c:v>
                </c:pt>
                <c:pt idx="1">
                  <c:v>2.3</c:v>
                </c:pt>
                <c:pt idx="2">
                  <c:v>2.8</c:v>
                </c:pt>
                <c:pt idx="3">
                  <c:v>2.3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T3:가치(환경/광고)</c:v>
                </c:pt>
              </c:strCache>
            </c:strRef>
          </c:tx>
          <c:spPr>
            <a:solidFill>
              <a:srgbClr val="93C5FD"/>
            </a:solidFill>
            <a:ln w="31750" cap="flat">
              <a:solidFill>
                <a:srgbClr val="93C5F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3C5FD"/>
              </a:solidFill>
              <a:ln w="9525" cap="flat">
                <a:solidFill>
                  <a:srgbClr val="93C5F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</c:v>
                  </c:pt>
                  <c:pt idx="1">
                    <c:v>2026-02</c:v>
                  </c:pt>
                  <c:pt idx="2">
                    <c:v>2026-03</c:v>
                  </c:pt>
                  <c:pt idx="3">
                    <c:v>2026-04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2.9</c:v>
                </c:pt>
                <c:pt idx="1">
                  <c:v>2.1</c:v>
                </c:pt>
                <c:pt idx="2">
                  <c:v>2.1</c:v>
                </c:pt>
                <c:pt idx="3">
                  <c:v>2.1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926080" cy="29260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-731520"/>
            <a:ext cx="1828800" cy="18288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4572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6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4114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 + Claude 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4526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2026.01 ~ 2026.04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8229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섬유패션 뉴스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840480" y="15727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토픽모델링 분석 보고서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840480" y="2468880"/>
            <a:ext cx="4937760" cy="3657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651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K-섬유패션 브랜드 아이덴티티 연구를 위한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탐색적 토픽 추출 및 CBIM 자동 매핑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40480" y="3840480"/>
            <a:ext cx="155448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13632" y="38770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13632" y="41330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빅카인즈 55,567건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3840480"/>
            <a:ext cx="155448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05272" y="38770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기간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05272" y="41330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2026.01 ~ 04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23760" y="3840480"/>
            <a:ext cx="155448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96912" y="38770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도구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96912" y="413308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 + Claude API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분석 개요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6576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3657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환경 및 데이터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4208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빅카인즈 뉴스 수집 CSV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92938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64208" y="19293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1~4월 (3개월)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35000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64208" y="23500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55,567건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64208" y="2770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10,855건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19125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31912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KR-ELECTRA (한국어)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클러스터링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64208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+ UMAP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03250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64208" y="40325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(size=15) / V2 (size=8)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960120"/>
            <a:ext cx="4023360" cy="36576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960120"/>
            <a:ext cx="54864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흐름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155448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1554480"/>
            <a:ext cx="283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21808" y="15361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로딩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21808" y="17922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불러오기 (인코딩 자동감지)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05740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8616" y="2057400"/>
            <a:ext cx="283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21808" y="20391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21808" y="229514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형태소 분석 → 명사 추출 → 불용어 제거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37760" y="256032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2560320"/>
            <a:ext cx="283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21808" y="25420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생성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21808" y="279806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KR-ELECTRA 벡터화 (약 110분)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37760" y="306324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28616" y="3063240"/>
            <a:ext cx="283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21808" y="30449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21808" y="330098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차원 축소 → HDBSCAN 클러스터링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37760" y="356616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3566160"/>
            <a:ext cx="283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21808" y="3547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 분석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21808" y="38039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토픽 비중 변화 계산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37760" y="406908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28616" y="4069080"/>
            <a:ext cx="283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21808" y="40507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매핑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21808" y="43068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→ CBIM 9요소 자동 분류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V1 분석 결과  (min_cluster_size = 15)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603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5603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 토픽 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5603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5603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집중도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5603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14400"/>
            <a:ext cx="25603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3504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커버리지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 추출 결과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78608"/>
          <a:ext cx="8412480" cy="123444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822960"/>
                <a:gridCol w="4023360"/>
                <a:gridCol w="914400"/>
              </a:tblGrid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토픽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기사 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키워드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10,697건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상품, 글로벌, 고객, 매출, 백화점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포지셔닝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포티, 세대, 중년, 남성, 인식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종목, 기업, 상장, 코스모, 넵코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65760" y="3977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문제점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4334256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30682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T000에 99.2% 극단 쏠림 → 실질적 토픽 1개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4590288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" y="456285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9요소 중 3개만 커버 → 연구 활용 불가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65760" y="4846320"/>
            <a:ext cx="146304" cy="14630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48188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섬유패션 비관련 기사 혼재 → 필터링 필요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V2 분석 결과  (min_cluster_size = 8)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920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 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3개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177개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20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960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 기사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99%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43%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920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960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아웃라이어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104건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6,168건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75120" y="914400"/>
            <a:ext cx="1920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960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커버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1234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3/9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14904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9/9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2212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5개 토픽 (V2)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606040"/>
            <a:ext cx="45720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4261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" y="264261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26426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마텔, 파리패션위크, 밀라노, 컬렉션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267004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26700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4572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9981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7552" y="309981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83080" y="30998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사람, 시대, 세대, 작가, 이야기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312724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31272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520440"/>
            <a:ext cx="45720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55701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87552" y="355701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783080" y="35570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연기, 배우, 영화, 박재홍, 작품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0" y="358444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35844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개성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3977640"/>
            <a:ext cx="45720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01421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87552" y="401421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107건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83080" y="40142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환경, 광고, 인증, 자활, 제도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0" y="404164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40416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434840"/>
            <a:ext cx="45720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47141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87552" y="4471416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101건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783080" y="44714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명동, 쿠폰, 수출, 쿠팡, 물류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0" y="449884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0" y="44988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역량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12080" y="2212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분포 Top 4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212080" y="26700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897880" y="2734056"/>
            <a:ext cx="2560320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897880" y="2734056"/>
            <a:ext cx="2073859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267004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12080" y="31729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역량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97880" y="3236976"/>
            <a:ext cx="2560320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97880" y="3236976"/>
            <a:ext cx="2022653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03920" y="317296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212080" y="36758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897880" y="3739896"/>
            <a:ext cx="2560320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97880" y="3739896"/>
            <a:ext cx="1305763" cy="23774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03920" y="367588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212080" y="41788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97880" y="4242816"/>
            <a:ext cx="2560320" cy="23774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4242816"/>
            <a:ext cx="913181" cy="237744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03920" y="417880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CBIM 9요소 매핑 결과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868680"/>
            <a:ext cx="310896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868680"/>
            <a:ext cx="54864" cy="3931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960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인사이트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46304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1508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 + 역량 = 48%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80760" y="17647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비주얼 콘텐츠 전략과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실적이 핵심 담론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989320" y="224028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80760" y="22860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= 1.1%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80760" y="25420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지향적 스토리텔링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부재 → 전략적 약점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9320" y="301752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0760" y="3063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K-셀럽 연계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80760" y="33192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제니, 지민 등 셀럽 활용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패션 표현 토픽 다수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79476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80760" y="3840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대구 섬유산업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80760" y="40965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기반 제조 역량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여전히 중요한 담론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월별 토픽 트렌드  (DTM)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686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868680"/>
            <a:ext cx="2834640" cy="3931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868680"/>
            <a:ext cx="54864" cy="3931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960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주목할 변화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2468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463040"/>
            <a:ext cx="45720" cy="694944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5179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표현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309360" y="1783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5.8% 급등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파리패션위크 시즌 영향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72200" y="2286000"/>
            <a:ext cx="2468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2286000"/>
            <a:ext cx="45720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3408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역량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309360" y="2606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2월 1.2% 저점 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3.9% 급반등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3108960"/>
            <a:ext cx="2468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72200" y="3108960"/>
            <a:ext cx="45720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31638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역량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09360" y="34290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1월 0.8% → 3월 2.8%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컬리 실적 성장세 지속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72200" y="3931920"/>
            <a:ext cx="24688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3931920"/>
            <a:ext cx="45720" cy="69494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39867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문화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309360" y="4251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1월 4.0% → 3월 2.3%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감소 후 4월 회복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섬유패션 특화 토픽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V2에서 섬유·봉제·직물 키워드가 직접 포함된 핵심 토픽 — 대부분 CBIM '역량' 요소에 집중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060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63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48840" y="148132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48132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80136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섬유, 금융, 무역, 수출, 탄소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3408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섬유산업 금융·무역 지원 역량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6060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7160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463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148132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48132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10128" y="180136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섬유, 대구, 바이어, 전시회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23408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대구 섬유 B2B 산업 역량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060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463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18120" y="148132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148132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44768" y="180136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섬유, 직물, 소재, 박람회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44768" y="23408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 소재 기술 역량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063240"/>
            <a:ext cx="26060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6324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154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48840" y="317296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317296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역량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349300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섬유, 봉제, 산업부, 통상부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" y="403250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 정책·제조 인프라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063240"/>
            <a:ext cx="26060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063240"/>
            <a:ext cx="2606040" cy="54864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3154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T119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83480" y="317296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17296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코어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10128" y="349300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코오롱, 아라미드, 봉제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310128" y="403250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K-섬유 핵심 소재 정체성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3063240"/>
            <a:ext cx="26060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35040" y="3063240"/>
            <a:ext cx="2606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15468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T164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818120" y="3172968"/>
            <a:ext cx="713232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317296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역량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44768" y="349300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섬유, 첨단, 친환경, 엑스코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44768" y="403250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대구 첨단 섬유 박람회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V3 개선 방향 및 결론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개선 계획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0817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081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3533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필터링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6550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섬유/패션/의류/봉제 포함 기사 선별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75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202082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 수 조정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3225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5~10개 (min_cluster_size 최적화)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43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26883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확장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9900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5년치 + 구글뉴스 API (해외)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41071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10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3558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전문가 검증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FGI를 통한 매핑 결과 학술 검증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78224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782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40233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연계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3251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PLS-SEM 설문 문항 설계 → 실증 분석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914400"/>
            <a:ext cx="3931920" cy="393192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10241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0" y="1481328"/>
            <a:ext cx="338328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728216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66420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BERTopic + Claude API 파이프라인 구축 완료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0" y="2304288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21808" y="22402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V1→V2로 최적 파라미터 탐색 방향 확인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288036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28163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표현(24%) + 역량(24%) = K-섬유패션 핵심 담론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0" y="3456432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21808" y="339242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요소(1.1%) 부재 = 전략적 약점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0" y="403250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396849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필터링 후 연구 품질 대폭 향상 예상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섬유패션 뉴스 토픽모델링 분석 보고서</dc:title>
  <dc:subject>PptxGenJS Presentation</dc:subject>
  <dc:creator>PptxGenJS</dc:creator>
  <cp:lastModifiedBy>PptxGenJS</cp:lastModifiedBy>
  <cp:revision>1</cp:revision>
  <dcterms:created xsi:type="dcterms:W3CDTF">2026-04-16T13:08:54Z</dcterms:created>
  <dcterms:modified xsi:type="dcterms:W3CDTF">2026-04-16T13:08:54Z</dcterms:modified>
</cp:coreProperties>
</file>